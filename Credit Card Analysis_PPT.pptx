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  <a:latin typeface="Algerian" panose="04020705040A02060702" pitchFamily="82" charset="0"/>
              </a:rPr>
              <a:t>Credit Card Analysis </a:t>
            </a:r>
            <a:br>
              <a:rPr lang="en-US" sz="80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8000" dirty="0">
                <a:solidFill>
                  <a:schemeClr val="tx1"/>
                </a:solidFill>
                <a:latin typeface="Algerian" panose="04020705040A02060702" pitchFamily="82" charset="0"/>
              </a:rPr>
              <a:t>                 </a:t>
            </a:r>
            <a:r>
              <a:rPr lang="en-US" sz="2000" dirty="0" err="1">
                <a:solidFill>
                  <a:schemeClr val="tx1"/>
                </a:solidFill>
                <a:latin typeface="Algerian" panose="04020705040A02060702" pitchFamily="82" charset="0"/>
              </a:rPr>
              <a:t>Presnt</a:t>
            </a:r>
            <a: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  <a:t> by,</a:t>
            </a:r>
            <a:b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  <a:t>                                                                          </a:t>
            </a:r>
            <a:r>
              <a:rPr lang="en-US" sz="2000" spc="-150" dirty="0">
                <a:solidFill>
                  <a:schemeClr val="tx1"/>
                </a:solidFill>
                <a:latin typeface="Algerian" panose="04020705040A02060702" pitchFamily="82" charset="0"/>
              </a:rPr>
              <a:t>Mohd </a:t>
            </a:r>
            <a:r>
              <a:rPr lang="en-US" sz="2000" spc="-150" dirty="0" err="1">
                <a:solidFill>
                  <a:schemeClr val="tx1"/>
                </a:solidFill>
                <a:latin typeface="Algerian" panose="04020705040A02060702" pitchFamily="82" charset="0"/>
              </a:rPr>
              <a:t>aftab</a:t>
            </a:r>
            <a:r>
              <a:rPr lang="en-US" sz="2000" spc="-150" dirty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EC88-93CC-34B6-2A63-348BCB37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 dirty="0">
                <a:solidFill>
                  <a:srgbClr val="FFFF00"/>
                </a:solidFill>
              </a:rPr>
              <a:t>Project  Objective</a:t>
            </a:r>
            <a:r>
              <a:rPr lang="en-GB" dirty="0">
                <a:solidFill>
                  <a:srgbClr val="FFFF00"/>
                </a:solidFill>
              </a:rPr>
              <a:t>	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D04E09-B3A9-F11D-AEB9-367B0BB14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44083"/>
            <a:ext cx="6746240" cy="674553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CA855-3069-1513-CD62-77C0A537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To develop a comprehensive credit card weekly dashboard that provides real-time insights into key performance metrics and trends, enabling stakeholders to monitor and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analyze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credit card operations effectively.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59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69F063-5A2C-126D-95C6-0A60E4A25A13}"/>
              </a:ext>
            </a:extLst>
          </p:cNvPr>
          <p:cNvSpPr txBox="1"/>
          <p:nvPr/>
        </p:nvSpPr>
        <p:spPr>
          <a:xfrm>
            <a:off x="314960" y="26745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Project Insights- Week 53 (31st Dec)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0F509-FC68-4A2E-2E3C-28431A29FBEA}"/>
              </a:ext>
            </a:extLst>
          </p:cNvPr>
          <p:cNvSpPr txBox="1"/>
          <p:nvPr/>
        </p:nvSpPr>
        <p:spPr>
          <a:xfrm>
            <a:off x="193040" y="1351508"/>
            <a:ext cx="882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lgerian" panose="04020705040A02060702" pitchFamily="82" charset="0"/>
              </a:rPr>
              <a:t>WoW change</a:t>
            </a:r>
            <a:r>
              <a:rPr lang="en-GB" dirty="0"/>
              <a:t>: </a:t>
            </a:r>
          </a:p>
          <a:p>
            <a:r>
              <a:rPr lang="en-GB" dirty="0"/>
              <a:t>• Revenue increased by 28.8%, </a:t>
            </a:r>
          </a:p>
          <a:p>
            <a:r>
              <a:rPr lang="en-GB" dirty="0"/>
              <a:t>• Total Transaction Amt &amp; Count increased by xx% &amp; xx% </a:t>
            </a:r>
          </a:p>
          <a:p>
            <a:r>
              <a:rPr lang="en-GB" dirty="0"/>
              <a:t>• Customer count increased by xx%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43F93-9943-ECA8-0FB9-1D609D719B76}"/>
              </a:ext>
            </a:extLst>
          </p:cNvPr>
          <p:cNvSpPr txBox="1"/>
          <p:nvPr/>
        </p:nvSpPr>
        <p:spPr>
          <a:xfrm>
            <a:off x="254000" y="2551837"/>
            <a:ext cx="74472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Overview YTD</a:t>
            </a:r>
            <a:r>
              <a:rPr lang="en-GB" dirty="0">
                <a:latin typeface="Algerian" panose="04020705040A02060702" pitchFamily="82" charset="0"/>
              </a:rPr>
              <a:t>: </a:t>
            </a:r>
          </a:p>
          <a:p>
            <a:r>
              <a:rPr lang="en-GB" dirty="0"/>
              <a:t>• Overall revenue is 57M</a:t>
            </a:r>
          </a:p>
          <a:p>
            <a:r>
              <a:rPr lang="en-GB" dirty="0"/>
              <a:t>• Total interest is 8M </a:t>
            </a:r>
          </a:p>
          <a:p>
            <a:r>
              <a:rPr lang="en-GB" dirty="0"/>
              <a:t>• Total transaction amount is 46M </a:t>
            </a:r>
          </a:p>
          <a:p>
            <a:r>
              <a:rPr lang="en-GB" dirty="0"/>
              <a:t>• Male customers are contributing more in revenue 31M, female 26M </a:t>
            </a:r>
          </a:p>
          <a:p>
            <a:r>
              <a:rPr lang="en-GB" dirty="0"/>
              <a:t>• Blue &amp; Silver credit card are contributing to 93% of overall transactions</a:t>
            </a:r>
          </a:p>
          <a:p>
            <a:r>
              <a:rPr lang="en-GB" dirty="0"/>
              <a:t>• TX, NY &amp; CA is contributing to 68% </a:t>
            </a:r>
          </a:p>
          <a:p>
            <a:r>
              <a:rPr lang="en-GB" dirty="0"/>
              <a:t>• Overall Activation rate is 57.5% </a:t>
            </a:r>
          </a:p>
          <a:p>
            <a:r>
              <a:rPr lang="en-GB" dirty="0"/>
              <a:t>• Overall Delinquent rate is 6.06%</a:t>
            </a:r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CE3FD1-76D6-8AE8-EB1F-766327A9B3C8}"/>
              </a:ext>
            </a:extLst>
          </p:cNvPr>
          <p:cNvGrpSpPr>
            <a:grpSpLocks/>
          </p:cNvGrpSpPr>
          <p:nvPr/>
        </p:nvGrpSpPr>
        <p:grpSpPr>
          <a:xfrm>
            <a:off x="8136954" y="653177"/>
            <a:ext cx="3862006" cy="5166360"/>
            <a:chOff x="0" y="0"/>
            <a:chExt cx="3538728" cy="4408932"/>
          </a:xfrm>
        </p:grpSpPr>
        <p:pic>
          <p:nvPicPr>
            <p:cNvPr id="9" name="Image 47">
              <a:extLst>
                <a:ext uri="{FF2B5EF4-FFF2-40B4-BE49-F238E27FC236}">
                  <a16:creationId xmlns:a16="http://schemas.microsoft.com/office/drawing/2014/main" id="{1F6B5968-92A2-BA2F-3FBC-D29CDD6DBA2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163" y="0"/>
              <a:ext cx="1789176" cy="850391"/>
            </a:xfrm>
            <a:prstGeom prst="rect">
              <a:avLst/>
            </a:prstGeom>
          </p:spPr>
        </p:pic>
        <p:pic>
          <p:nvPicPr>
            <p:cNvPr id="10" name="Image 48">
              <a:extLst>
                <a:ext uri="{FF2B5EF4-FFF2-40B4-BE49-F238E27FC236}">
                  <a16:creationId xmlns:a16="http://schemas.microsoft.com/office/drawing/2014/main" id="{403218D1-14B5-EA77-86F9-F3DFF407634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21436"/>
              <a:ext cx="3538728" cy="3587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785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Your best quote that reflects your approach… “It’s one small step for man, one giant leap for mankind.”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36</TotalTime>
  <Words>180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Algerian</vt:lpstr>
      <vt:lpstr>Bookman Old Style</vt:lpstr>
      <vt:lpstr>Calibri</vt:lpstr>
      <vt:lpstr>Franklin Gothic Book</vt:lpstr>
      <vt:lpstr>Custom</vt:lpstr>
      <vt:lpstr>Credit Card Analysis                   Presnt by,                                                                           Mohd aftab </vt:lpstr>
      <vt:lpstr>Project  Objective </vt:lpstr>
      <vt:lpstr>PowerPoint Presentation</vt:lpstr>
      <vt:lpstr>Your best quote that reflects your approach… “It’s one small step for man, one giant leap for mankind.”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</dc:creator>
  <cp:lastModifiedBy>RAJA</cp:lastModifiedBy>
  <cp:revision>4</cp:revision>
  <dcterms:created xsi:type="dcterms:W3CDTF">2025-04-14T22:45:57Z</dcterms:created>
  <dcterms:modified xsi:type="dcterms:W3CDTF">2025-04-14T23:28:43Z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